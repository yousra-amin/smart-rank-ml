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202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19E97-64F0-4648-B7A5-34121029ADBB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E1A9F-FB37-405F-8A6A-FB70C7178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39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2E5FA3">
              <a:alpha val="25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· Machine Learning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Result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Optimization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Learning-to-Rank Pipeline Using LambdaMART on MS MARCO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16352"/>
            <a:ext cx="5486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1752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Badhon</a:t>
            </a:r>
            <a:r>
              <a:rPr lang="en-US" sz="15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Cleaning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06040" y="301752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3017520"/>
            <a:ext cx="1920240" cy="74980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3063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Adiba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340156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Tuning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North South University  ·  Spring 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LTR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Badhon · Yousra · Ovi · Adiba  | 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CSE445: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12801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5331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MARCO v1.1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914400" cy="219456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00200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64792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64792" y="1188720"/>
            <a:ext cx="1280160" cy="731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7712" y="1353312"/>
            <a:ext cx="292608" cy="29260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67712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64792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64792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Dedup, normalize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labels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47672" y="2880360"/>
            <a:ext cx="914400" cy="219456"/>
          </a:xfrm>
          <a:prstGeom prst="rect">
            <a:avLst/>
          </a:prstGeom>
          <a:solidFill>
            <a:srgbClr val="2E5FA3">
              <a:alpha val="20000"/>
            </a:srgbClr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47672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Badhon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44952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9544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7C3AED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9544" y="1188720"/>
            <a:ext cx="12801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1353312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9544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09544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BM25, TF-IDF…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92424" y="2880360"/>
            <a:ext cx="914400" cy="219456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2424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Yousra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89704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4296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D9770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54296" y="1188720"/>
            <a:ext cx="12801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57216" y="135331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57216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54296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654296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ranker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rank:ndcg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37176" y="2880360"/>
            <a:ext cx="914400" cy="219456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37176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34456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9048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16A34A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099048" y="1188720"/>
            <a:ext cx="12801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135331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01968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99048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099048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NDCG, MAP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MRR, P@10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81928" y="2880360"/>
            <a:ext cx="914400" cy="219456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Adiba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79208" y="2331720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43800" y="1188720"/>
            <a:ext cx="1280160" cy="2286000"/>
          </a:xfrm>
          <a:prstGeom prst="rect">
            <a:avLst/>
          </a:prstGeom>
          <a:solidFill>
            <a:srgbClr val="F0F4F8"/>
          </a:solidFill>
          <a:ln w="19050">
            <a:solidFill>
              <a:srgbClr val="DC2626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7543800" y="1188720"/>
            <a:ext cx="12801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1353312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0" y="1353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543800" y="17373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543800" y="2103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2-stage retrieval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726680" y="2880360"/>
            <a:ext cx="914400" cy="219456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26680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20040" y="3703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Outputs: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clean_search_dataset.csv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46888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46888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features_dataset.csv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61772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trained_ranking_model.pkl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766560" y="3950208"/>
            <a:ext cx="2011680" cy="237744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66560" y="39502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evaluation_report.csv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Badhon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MARCO v1.1 + Data Cleaning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Badhon · Yousra · Ovi · Adiba  | 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CSE445: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54864" cy="10058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49,293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169895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Query–Passage Pairs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11556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15568"/>
            <a:ext cx="54864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18872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169895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Used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0428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04288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7744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6,437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57200" y="288767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Pairs (13.1%)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68880" y="2304288"/>
            <a:ext cx="1920240" cy="100584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68880" y="2304288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377440"/>
            <a:ext cx="1737360" cy="5532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606040" y="2887675"/>
            <a:ext cx="173736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Passages / Query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078992"/>
            <a:ext cx="4114800" cy="3429000"/>
          </a:xfrm>
          <a:prstGeom prst="rect">
            <a:avLst/>
          </a:prstGeom>
          <a:solidFill>
            <a:srgbClr val="F0F4F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Badhon's Cleaning Pipeline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50876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①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151790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+ HTML strip + punctuation removal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1938528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938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194767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normalization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2368296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3682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③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237744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on (qid, pid) pairs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46320" y="2798064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2798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④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280720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Null-value filtering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3227832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278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⑤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323697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from is_selected field (HuggingFace)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3657600"/>
            <a:ext cx="237744" cy="23774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366674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→ clean_search_dataset.csv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20040" y="3520440"/>
            <a:ext cx="4206240" cy="384048"/>
          </a:xfrm>
          <a:prstGeom prst="rect">
            <a:avLst/>
          </a:prstGeom>
          <a:solidFill>
            <a:srgbClr val="D6E4F7"/>
          </a:solidFill>
          <a:ln w="6350">
            <a:solidFill>
              <a:srgbClr val="2E5F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520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huggingface.co/datasets/microsoft/ms_marco  (v1.1, validation split)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Yousra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Ranking Features Across 3 Families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Badhon · Yousra · Ovi · Adiba  | 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CSE445: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743200" cy="3364992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3619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361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term_overlap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842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keyword_density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exact_match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jaccard_similarity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28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term_overlap_bigram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7647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2E5FA3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76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query_doc_len_ratio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1097280"/>
            <a:ext cx="2743200" cy="3364992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153619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361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tfidf_cosine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83280" y="1984248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842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bm25_score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2432304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idf_sum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83280" y="2880360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avg_idf_overlap_terms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83280" y="3328416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328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tf_idf_sum_overlap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383280" y="377647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3776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passage_uniq_ratio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72200" y="1097280"/>
            <a:ext cx="2743200" cy="3364992"/>
          </a:xfrm>
          <a:prstGeom prst="rect">
            <a:avLst/>
          </a:prstGeom>
          <a:solidFill>
            <a:srgbClr val="F0F4F8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153619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5361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first_occurrence_rank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1984248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98424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dwell_time_proxy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09360" y="2432304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4323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09360" y="2880360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288036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query_len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3328416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33284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doc_len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3776472"/>
            <a:ext cx="2468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37764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query_avg_tf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4572000"/>
            <a:ext cx="8503920" cy="109728"/>
          </a:xfrm>
          <a:prstGeom prst="rect">
            <a:avLst/>
          </a:prstGeom>
          <a:solidFill>
            <a:srgbClr val="94A3B8">
              <a:alpha val="40000"/>
            </a:srgbClr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LambdaMART: Listwise Learning to Rank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Badhon · Yousra · Ovi · Adiba  | 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CSE445: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Paradigms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3840480" cy="868680"/>
          </a:xfrm>
          <a:prstGeom prst="rect">
            <a:avLst/>
          </a:prstGeom>
          <a:solidFill>
            <a:srgbClr val="F0F4F8"/>
          </a:solidFill>
          <a:ln w="1016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score per doc.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relative order.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04872"/>
            <a:ext cx="3840480" cy="868680"/>
          </a:xfrm>
          <a:prstGeom prst="rect">
            <a:avLst/>
          </a:prstGeom>
          <a:solidFill>
            <a:srgbClr val="F0F4F8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404872"/>
            <a:ext cx="64008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5059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doc A &gt; doc B.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but not list-aware.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392424"/>
            <a:ext cx="3840480" cy="86868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92424"/>
            <a:ext cx="64008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381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1246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full ranked list.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 = SOTA.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1078992"/>
            <a:ext cx="4297680" cy="3401568"/>
          </a:xfrm>
          <a:prstGeom prst="rect">
            <a:avLst/>
          </a:prstGeom>
          <a:solidFill>
            <a:srgbClr val="F0F4F8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11556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Ranker Configuration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508760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5179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5179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rank:ndcg   (LambdaMART)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865376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trees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221992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2311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η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23113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578608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5877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25877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935224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944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29443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3291840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300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3300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3648456"/>
            <a:ext cx="411480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by query group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4005072"/>
            <a:ext cx="4114800" cy="338328"/>
          </a:xfrm>
          <a:prstGeom prst="rect">
            <a:avLst/>
          </a:prstGeom>
          <a:solidFill>
            <a:srgbClr val="F0F4F8"/>
          </a:solidFill>
          <a:ln w="381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01421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group-aware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40142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GroupShuffleSplit (no leakage)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Adiba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NDCG@10 = 0.8241  |  MAP = </a:t>
            </a:r>
            <a:r>
              <a:rPr lang="en-US" sz="2600" b="1" dirty="0" smtClean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0.7319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Badhon · Yousra · Ovi · Adiba  | 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CSE445: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15568"/>
            <a:ext cx="199339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0.8241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 vs base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96312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96312" y="1115568"/>
            <a:ext cx="1993392" cy="640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6312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496312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44952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+5.8% vs base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72584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115568"/>
            <a:ext cx="1993392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0.7538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672584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21224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21224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+6.1% vs base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48856" y="1115568"/>
            <a:ext cx="1993392" cy="1371600"/>
          </a:xfrm>
          <a:prstGeom prst="rect">
            <a:avLst/>
          </a:prstGeom>
          <a:solidFill>
            <a:srgbClr val="F0F4F8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48856" y="1115568"/>
            <a:ext cx="1993392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207008"/>
            <a:ext cx="1993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0.1621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848856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P@10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97496" y="2139696"/>
            <a:ext cx="896112" cy="219456"/>
          </a:xfrm>
          <a:prstGeom prst="rect">
            <a:avLst/>
          </a:prstGeom>
          <a:solidFill>
            <a:srgbClr val="16A34A">
              <a:alpha val="2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97496" y="2139696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+9.4% vs base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0040" y="26060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 (XGBoost)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bm25_score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86000" y="2962656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2962656"/>
            <a:ext cx="350581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37530" y="292608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32278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tfidf_cosine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3264408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0" y="3264408"/>
            <a:ext cx="2995574" cy="1828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7294" y="3227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" y="352958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tf_idf_sum_overlap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0" y="3566160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86000" y="3566160"/>
            <a:ext cx="2304288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6008" y="35295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38313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avg_idf_overlap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286000" y="3867912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0" y="3867912"/>
            <a:ext cx="1613002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44722" y="383133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20040" y="413308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term_overlap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0" y="4169664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0" y="4169664"/>
            <a:ext cx="1382573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14293" y="413308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0040" y="44348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jaccard_similarity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0" y="4471416"/>
            <a:ext cx="4114800" cy="182880"/>
          </a:xfrm>
          <a:prstGeom prst="rect">
            <a:avLst/>
          </a:prstGeom>
          <a:solidFill>
            <a:srgbClr val="F0F4F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4471416"/>
            <a:ext cx="1168603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00323" y="443484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81340" y="2719704"/>
            <a:ext cx="2479780" cy="1810512"/>
          </a:xfrm>
          <a:prstGeom prst="rect">
            <a:avLst/>
          </a:prstGeom>
          <a:solidFill>
            <a:srgbClr val="D6E4F7"/>
          </a:solidFill>
          <a:ln w="10160">
            <a:solidFill>
              <a:srgbClr val="2E5FA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46710" y="270262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70925" y="2980913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Random Search (10 iters)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470925" y="3218657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space: depth, lr, n_trees,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70925" y="3456401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subsample, γ, min_child_weight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470925" y="3694145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GroupShuffleSplit 80/20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470925" y="3931889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NDCG@10 on test split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70925" y="4169633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→ best_model.pkl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+ Streamlit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Badhon · Yousra · Ovi · Adiba  |  </a:t>
            </a:r>
            <a:r>
              <a:rPr lang="en-US" sz="9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CSE445: </a:t>
            </a: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3931920" cy="2103120"/>
          </a:xfrm>
          <a:prstGeom prst="rect">
            <a:avLst/>
          </a:prstGeom>
          <a:solidFill>
            <a:srgbClr val="F0F4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15568"/>
            <a:ext cx="3931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BM25 Retrieval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55448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tokenize → BM25.get_scores()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90195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49,293 passages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2494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top-100 candidates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596896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O(|corpus| · |q|)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44368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100 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2194560"/>
            <a:ext cx="32004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205455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4A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00600" y="1115568"/>
            <a:ext cx="3977640" cy="2103120"/>
          </a:xfrm>
          <a:prstGeom prst="rect">
            <a:avLst/>
          </a:prstGeom>
          <a:solidFill>
            <a:srgbClr val="F0F4F8"/>
          </a:solidFill>
          <a:ln w="19050">
            <a:solidFill>
              <a:srgbClr val="2E5FA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LambdaMART Re-rank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1572768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18 features for 100 candidates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1920240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9019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best_model.pkl → predict(X)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2267712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2494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top-K ranked passages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2615184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5968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O(100 · 18)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2962656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9443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&lt; 50 ms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33649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Features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67588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" y="363931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search bar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389534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8587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result count + BM25 pool sliders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1148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40782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LTR score badges per result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433425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" y="42976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Query-term highlighting in passage text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5537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" y="45171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r>
              <a:rPr lang="en-US" sz="1000" dirty="0" err="1" smtClean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st.cache_resource</a:t>
            </a:r>
            <a:r>
              <a:rPr lang="en-US" sz="1000" dirty="0" smtClean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>
                <a:solidFill>
                  <a:srgbClr val="101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built once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364992"/>
            <a:ext cx="41148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3364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6344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at http://localhost:8501  ·  First load ~1 min (index build)  ·  Every query &lt; 1 sec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601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075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LTR pipeline from raw data to Streamlit 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013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01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hand-crafted features — lexical, semantic, positional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2768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2585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LambdaMART achieving NDCG@10 = 0.8241  |  MAP = 0.7319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7523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7340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BM25 + re-rank architecture (&lt; 150 ms / query)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278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27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320954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every step scripted, documented, GitHub-ready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914400"/>
            <a:ext cx="3337560" cy="36576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98755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13716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3441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features (DPR / ColBERT)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801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MS MARCO training split (82K queries)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2286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2585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cross-encoder ensemble re-ranker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23560" y="27432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7157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CTR update from user feedback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23560" y="32004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31729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cloud (HuggingFace Spaces)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8280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Badhon · Yousra · Ovi · Adiba  |  </a:t>
            </a:r>
            <a:r>
              <a:rPr lang="en-US" sz="9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CSE445: Machine </a:t>
            </a: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726</Words>
  <Application>Microsoft Office PowerPoint</Application>
  <PresentationFormat>On-screen Show (16:9)</PresentationFormat>
  <Paragraphs>216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 Result Ranking Optimization</dc:title>
  <dc:subject>PptxGenJS Presentation</dc:subject>
  <dc:creator>Group 05 — CSE445</dc:creator>
  <cp:lastModifiedBy>S Ahmed Ovi</cp:lastModifiedBy>
  <cp:revision>3</cp:revision>
  <dcterms:created xsi:type="dcterms:W3CDTF">2026-04-29T12:00:53Z</dcterms:created>
  <dcterms:modified xsi:type="dcterms:W3CDTF">2026-04-29T15:06:49Z</dcterms:modified>
</cp:coreProperties>
</file>